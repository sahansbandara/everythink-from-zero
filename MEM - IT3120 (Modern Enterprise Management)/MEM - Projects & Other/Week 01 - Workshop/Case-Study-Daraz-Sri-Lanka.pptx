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Inter Black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image" Target="../media/image-4-1.png"/><Relationship Id="rId8" Type="http://schemas.openxmlformats.org/officeDocument/2006/relationships/image" Target="../media/image-4-2.svg"/><Relationship Id="rId9" Type="http://schemas.openxmlformats.org/officeDocument/2006/relationships/image" Target="../media/image-4-3.png"/><Relationship Id="rId10" Type="http://schemas.openxmlformats.org/officeDocument/2006/relationships/image" Target="../media/image-4-4.svg"/><Relationship Id="rId11" Type="http://schemas.openxmlformats.org/officeDocument/2006/relationships/image" Target="../media/image-4-3.png"/><Relationship Id="rId12" Type="http://schemas.openxmlformats.org/officeDocument/2006/relationships/image" Target="../media/image-4-4.sv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3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image" Target="../media/image-5-13.png"/><Relationship Id="rId18" Type="http://schemas.openxmlformats.org/officeDocument/2006/relationships/image" Target="../media/image-5-14.svg"/><Relationship Id="rId19" Type="http://schemas.openxmlformats.org/officeDocument/2006/relationships/image" Target="../media/image-5-19.png"/><Relationship Id="rId20" Type="http://schemas.openxmlformats.org/officeDocument/2006/relationships/image" Target="../media/image-5-20.svg"/><Relationship Id="rId21" Type="http://schemas.openxmlformats.org/officeDocument/2006/relationships/image" Target="../media/image-5-21.png"/><Relationship Id="rId22" Type="http://schemas.openxmlformats.org/officeDocument/2006/relationships/slideLayout" Target="../slideLayouts/slideLayout3.xml"/><Relationship Id="rId2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.png"/><Relationship Id="rId14" Type="http://schemas.openxmlformats.org/officeDocument/2006/relationships/image" Target="../media/image-6-2.svg"/><Relationship Id="rId15" Type="http://schemas.openxmlformats.org/officeDocument/2006/relationships/image" Target="../media/image-6-15.png"/><Relationship Id="rId16" Type="http://schemas.openxmlformats.org/officeDocument/2006/relationships/image" Target="../media/image-6-16.svg"/><Relationship Id="rId17" Type="http://schemas.openxmlformats.org/officeDocument/2006/relationships/image" Target="../media/image-6-1.png"/><Relationship Id="rId18" Type="http://schemas.openxmlformats.org/officeDocument/2006/relationships/image" Target="../media/image-6-2.svg"/><Relationship Id="rId19" Type="http://schemas.openxmlformats.org/officeDocument/2006/relationships/image" Target="../media/image-6-19.png"/><Relationship Id="rId20" Type="http://schemas.openxmlformats.org/officeDocument/2006/relationships/image" Target="../media/image-6-20.svg"/><Relationship Id="rId21" Type="http://schemas.openxmlformats.org/officeDocument/2006/relationships/image" Target="../media/image-6-21.png"/><Relationship Id="rId22" Type="http://schemas.openxmlformats.org/officeDocument/2006/relationships/image" Target="../media/image-6-22.svg"/><Relationship Id="rId23" Type="http://schemas.openxmlformats.org/officeDocument/2006/relationships/image" Target="../media/image-6-23.png"/><Relationship Id="rId24" Type="http://schemas.openxmlformats.org/officeDocument/2006/relationships/image" Target="../media/image-6-24.svg"/><Relationship Id="rId25" Type="http://schemas.openxmlformats.org/officeDocument/2006/relationships/image" Target="../media/image-6-21.png"/><Relationship Id="rId26" Type="http://schemas.openxmlformats.org/officeDocument/2006/relationships/image" Target="../media/image-6-22.svg"/><Relationship Id="rId27" Type="http://schemas.openxmlformats.org/officeDocument/2006/relationships/image" Target="../media/image-6-27.png"/><Relationship Id="rId28" Type="http://schemas.openxmlformats.org/officeDocument/2006/relationships/image" Target="../media/image-6-28.svg"/><Relationship Id="rId29" Type="http://schemas.openxmlformats.org/officeDocument/2006/relationships/slideLayout" Target="../slideLayouts/slideLayout3.xml"/><Relationship Id="rId3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1.png"/><Relationship Id="rId10" Type="http://schemas.openxmlformats.org/officeDocument/2006/relationships/image" Target="../media/image-8-2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.png"/><Relationship Id="rId14" Type="http://schemas.openxmlformats.org/officeDocument/2006/relationships/image" Target="../media/image-8-2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1.png"/><Relationship Id="rId4" Type="http://schemas.openxmlformats.org/officeDocument/2006/relationships/image" Target="../media/image-9-2.svg"/><Relationship Id="rId5" Type="http://schemas.openxmlformats.org/officeDocument/2006/relationships/image" Target="../media/image-9-1.png"/><Relationship Id="rId6" Type="http://schemas.openxmlformats.org/officeDocument/2006/relationships/image" Target="../media/image-9-2.svg"/><Relationship Id="rId7" Type="http://schemas.openxmlformats.org/officeDocument/2006/relationships/image" Target="../media/image-5-21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68201"/>
            <a:ext cx="8151763" cy="611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Case Study: Daraz Sri Lanka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496119" y="1792188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Module:</a:t>
            </a:r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IT3120 Modern Enterprise Management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Workshop 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94022" y="2564755"/>
            <a:ext cx="2832422" cy="1610469"/>
          </a:xfrm>
          <a:prstGeom prst="roundRect">
            <a:avLst>
              <a:gd name="adj" fmla="val 6338"/>
            </a:avLst>
          </a:prstGeom>
          <a:solidFill>
            <a:srgbClr val="F4F7FB"/>
          </a:solidFill>
          <a:ln/>
        </p:spPr>
      </p:sp>
      <p:sp>
        <p:nvSpPr>
          <p:cNvPr id="5" name="Text 3"/>
          <p:cNvSpPr/>
          <p:nvPr/>
        </p:nvSpPr>
        <p:spPr>
          <a:xfrm>
            <a:off x="535781" y="2706514"/>
            <a:ext cx="254890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Group ID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35781" y="3069729"/>
            <a:ext cx="30061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[Insert Group ID]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988" y="2706514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Team Members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74988" y="3069729"/>
            <a:ext cx="5177582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[Name 1] — [IT Number]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[Name 2] — [IT Number]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[Name 3] — [IT Number]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[Name 4] — [IT Number]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48047"/>
            <a:ext cx="8151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Company Overview: Daraz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190327"/>
            <a:ext cx="4083323" cy="10385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460" y="1337518"/>
            <a:ext cx="3731791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Founded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00460" y="1669777"/>
            <a:ext cx="373179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Launched in 2012 by Rocket Internet and acquired by Alibaba Group in 2018.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353494"/>
            <a:ext cx="4083323" cy="103859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0460" y="2500685"/>
            <a:ext cx="3731791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Markets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700460" y="2832943"/>
            <a:ext cx="373179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Operates in 5 countries: Sri Lanka, Pakistan, Bangladesh, Nepal, and Myanmar.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516660"/>
            <a:ext cx="4083323" cy="103859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0460" y="3663851"/>
            <a:ext cx="3731791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700460" y="3996110"/>
            <a:ext cx="3731791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C2C + B2C marketplace where sellers list products and Daraz provides the platform, payment, and logistics.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4908352" y="1190327"/>
            <a:ext cx="1809824" cy="2574429"/>
          </a:xfrm>
          <a:prstGeom prst="roundRect">
            <a:avLst>
              <a:gd name="adj" fmla="val 308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046018" y="1327993"/>
            <a:ext cx="398711" cy="398711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55629" y="1437605"/>
            <a:ext cx="179412" cy="17941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046018" y="1851273"/>
            <a:ext cx="1534492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Revenue Streams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5046018" y="2183532"/>
            <a:ext cx="1534492" cy="954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Commissions</a:t>
            </a:r>
            <a:endParaRPr lang="en-US" sz="1000" dirty="0"/>
          </a:p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Seller services</a:t>
            </a:r>
            <a:endParaRPr lang="en-US" sz="1000" dirty="0"/>
          </a:p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Advertising</a:t>
            </a:r>
            <a:endParaRPr lang="en-US" sz="1000" dirty="0"/>
          </a:p>
          <a:p>
            <a:pPr algn="l" marL="203200" indent="-203200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Logistics fees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6842745" y="1190327"/>
            <a:ext cx="1809824" cy="2574429"/>
          </a:xfrm>
          <a:prstGeom prst="roundRect">
            <a:avLst>
              <a:gd name="adj" fmla="val 3084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980411" y="1327993"/>
            <a:ext cx="398711" cy="398711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90023" y="1437605"/>
            <a:ext cx="179412" cy="17941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980411" y="1851273"/>
            <a:ext cx="1534492" cy="415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Important Distinction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6980411" y="2391221"/>
            <a:ext cx="1534492" cy="1235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Daraz is a platform, not a retailer or manufacturer.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Unlike Amazon’s retail model, it does not hold inventory as its core role.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46137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Management Analysis (1): Planning &amp; Organizing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424434"/>
            <a:ext cx="3908375" cy="259050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67930" y="1548036"/>
            <a:ext cx="164753" cy="16475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2463" y="1973684"/>
            <a:ext cx="359568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PLANNING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652463" y="2321198"/>
            <a:ext cx="3595687" cy="1537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Strategic:</a:t>
            </a:r>
            <a:pPr algn="l" indent="0" marL="0">
              <a:lnSpc>
                <a:spcPct val="131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Market expansion, category growth, Alibaba tech integration</a:t>
            </a:r>
            <a:endParaRPr lang="en-US" sz="1050" dirty="0"/>
          </a:p>
          <a:p>
            <a:pPr algn="l" indent="0" marL="0">
              <a:lnSpc>
                <a:spcPct val="131000"/>
              </a:lnSpc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Tactical:</a:t>
            </a:r>
            <a:pPr algn="l" indent="0" marL="0">
              <a:lnSpc>
                <a:spcPct val="1310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Seasonal mega-campaigns — 11.11, 12.12, Daraz Birthday, Ramadan</a:t>
            </a:r>
            <a:endParaRPr lang="en-US" sz="1050" dirty="0"/>
          </a:p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Operational: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Daily order fulfilment, inventory forecasting for sellers</a:t>
            </a:r>
            <a:endParaRPr lang="en-US" sz="10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44269" y="1424434"/>
            <a:ext cx="3908375" cy="2923208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6080" y="1548036"/>
            <a:ext cx="164753" cy="16475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900613" y="1973684"/>
            <a:ext cx="3595687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ORGANIZING</a:t>
            </a:r>
            <a:endParaRPr lang="en-US" sz="1350" dirty="0"/>
          </a:p>
        </p:txBody>
      </p:sp>
      <p:sp>
        <p:nvSpPr>
          <p:cNvPr id="10" name="Text 4"/>
          <p:cNvSpPr/>
          <p:nvPr/>
        </p:nvSpPr>
        <p:spPr>
          <a:xfrm>
            <a:off x="4900613" y="2321198"/>
            <a:ext cx="3595687" cy="1870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Departments: Commercial, Marketing, Operations/Logistics (Daraz Express – DEX), Technology, Finance, Seller Support</a:t>
            </a:r>
            <a:endParaRPr lang="en-US" sz="1050" dirty="0"/>
          </a:p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Cross-functional coordination across 5 countries</a:t>
            </a:r>
            <a:endParaRPr lang="en-US" sz="1050" dirty="0"/>
          </a:p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Warehouse + island-wide hub-and-spoke delivery network</a:t>
            </a:r>
            <a:endParaRPr lang="en-US" sz="1050" dirty="0"/>
          </a:p>
          <a:p>
            <a:pPr algn="l" marL="213360" indent="-213360">
              <a:lnSpc>
                <a:spcPct val="131000"/>
              </a:lnSpc>
              <a:buSzPct val="100000"/>
              <a:buChar char="•"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Seller onboarding structure (Daraz University / seller training)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2741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Management Analysis (2): Leading &amp; Controlling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246956"/>
            <a:ext cx="391105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LEADING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602953"/>
            <a:ext cx="3911054" cy="7304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26430" y="1757065"/>
            <a:ext cx="3526631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Alibaba ownership → technology transfer + management practices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462138"/>
            <a:ext cx="3911054" cy="51933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26430" y="2616250"/>
            <a:ext cx="352663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Multicultural, multi-country team leadership</a:t>
            </a:r>
            <a:endParaRPr lang="en-US" sz="10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110210"/>
            <a:ext cx="3911054" cy="7304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26430" y="3264322"/>
            <a:ext cx="3526631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Motivating seller ecosystem (incentives, ratings, badges)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4741590" y="1246956"/>
            <a:ext cx="391105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CONTROLLING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41590" y="1602953"/>
            <a:ext cx="3911054" cy="7304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971901" y="1757065"/>
            <a:ext cx="3526631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Seller performance metrics: rating, cancellation rate, ship-on-time</a:t>
            </a:r>
            <a:endParaRPr lang="en-US" sz="10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41590" y="2462138"/>
            <a:ext cx="3911054" cy="51933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971901" y="2616250"/>
            <a:ext cx="352663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SLA monitoring, return/refund policy</a:t>
            </a:r>
            <a:endParaRPr lang="en-US" sz="10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41590" y="3110210"/>
            <a:ext cx="3911054" cy="519336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4971901" y="3264322"/>
            <a:ext cx="3526631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feedback &amp; review system</a:t>
            </a:r>
            <a:endParaRPr lang="en-US" sz="1050" dirty="0"/>
          </a:p>
        </p:txBody>
      </p:sp>
      <p:sp>
        <p:nvSpPr>
          <p:cNvPr id="17" name="Shape 9"/>
          <p:cNvSpPr/>
          <p:nvPr/>
        </p:nvSpPr>
        <p:spPr>
          <a:xfrm>
            <a:off x="4741590" y="3774430"/>
            <a:ext cx="3911054" cy="721370"/>
          </a:xfrm>
          <a:prstGeom prst="roundRect">
            <a:avLst>
              <a:gd name="adj" fmla="val 7867"/>
            </a:avLst>
          </a:prstGeom>
          <a:solidFill>
            <a:srgbClr val="FCF2B5"/>
          </a:solidFill>
          <a:ln/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76651" y="3977357"/>
            <a:ext cx="168846" cy="135062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180558" y="3924002"/>
            <a:ext cx="3337024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Quality control challenge:</a:t>
            </a:r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counterfeit / low-quality products — marketplace model's biggest weakness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Marketing Analysis (1): Product &amp; Price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87202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568128"/>
            <a:ext cx="1880592" cy="140821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51322" y="1695673"/>
            <a:ext cx="170111" cy="17011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56927" y="2135088"/>
            <a:ext cx="155897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itself is the product — app + web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18470" y="1568128"/>
            <a:ext cx="1880592" cy="1408212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73673" y="1695673"/>
            <a:ext cx="170111" cy="170111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679278" y="2135088"/>
            <a:ext cx="155897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Wide assortment: electronics, fashion, groceries, home</a:t>
            </a:r>
            <a:endParaRPr lang="en-US" sz="11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118098"/>
            <a:ext cx="3902943" cy="1181398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62460" y="3245644"/>
            <a:ext cx="170111" cy="170111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656927" y="3685059"/>
            <a:ext cx="358132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Services: DarazPay/wallet, Daraz Mall (authentic brands), buyer protection</a:t>
            </a:r>
            <a:endParaRPr lang="en-US" sz="1100" dirty="0"/>
          </a:p>
        </p:txBody>
      </p:sp>
      <p:sp>
        <p:nvSpPr>
          <p:cNvPr id="13" name="Text 5"/>
          <p:cNvSpPr/>
          <p:nvPr/>
        </p:nvSpPr>
        <p:spPr>
          <a:xfrm>
            <a:off x="4749701" y="1187202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PRICE</a:t>
            </a:r>
            <a:endParaRPr lang="en-US" sz="1350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49701" y="1568128"/>
            <a:ext cx="1880592" cy="2088654"/>
          </a:xfrm>
          <a:prstGeom prst="rect">
            <a:avLst/>
          </a:prstGeom>
        </p:spPr>
      </p:pic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604904" y="1695673"/>
            <a:ext cx="170111" cy="170111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4910510" y="2135088"/>
            <a:ext cx="1558975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leadership / value positioning — low prices, vouchers, flash sales, free-delivery thresholds, COD (no card needed)</a:t>
            </a:r>
            <a:endParaRPr lang="en-US" sz="1100" dirty="0"/>
          </a:p>
        </p:txBody>
      </p:sp>
      <p:pic>
        <p:nvPicPr>
          <p:cNvPr id="17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772052" y="1568128"/>
            <a:ext cx="1880592" cy="2088654"/>
          </a:xfrm>
          <a:prstGeom prst="rect">
            <a:avLst/>
          </a:prstGeom>
        </p:spPr>
      </p:pic>
      <p:pic>
        <p:nvPicPr>
          <p:cNvPr id="18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627255" y="1695673"/>
            <a:ext cx="170111" cy="170111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6932861" y="2135088"/>
            <a:ext cx="155897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competition among sellers on same platform</a:t>
            </a:r>
            <a:endParaRPr lang="en-US" sz="1100" dirty="0"/>
          </a:p>
        </p:txBody>
      </p:sp>
      <p:sp>
        <p:nvSpPr>
          <p:cNvPr id="20" name="Shape 8"/>
          <p:cNvSpPr/>
          <p:nvPr/>
        </p:nvSpPr>
        <p:spPr>
          <a:xfrm>
            <a:off x="4749701" y="3816251"/>
            <a:ext cx="3902943" cy="779562"/>
          </a:xfrm>
          <a:prstGeom prst="roundRect">
            <a:avLst>
              <a:gd name="adj" fmla="val 7638"/>
            </a:avLst>
          </a:prstGeom>
          <a:solidFill>
            <a:srgbClr val="DADBF1"/>
          </a:solidFill>
          <a:ln/>
        </p:spPr>
      </p:sp>
      <p:pic>
        <p:nvPicPr>
          <p:cNvPr id="21" name="Image 1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891460" y="4031307"/>
            <a:ext cx="177180" cy="141759"/>
          </a:xfrm>
          <a:prstGeom prst="rect">
            <a:avLst/>
          </a:prstGeom>
        </p:spPr>
      </p:pic>
      <p:sp>
        <p:nvSpPr>
          <p:cNvPr id="22" name="Text 9"/>
          <p:cNvSpPr/>
          <p:nvPr/>
        </p:nvSpPr>
        <p:spPr>
          <a:xfrm>
            <a:off x="5210398" y="3979218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insight: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Daraz is positioned as a value/cost-leader marketplace, NOT a premium brand.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0262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Marketing Analysis (2): Place &amp; Promotion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96119" y="1122685"/>
            <a:ext cx="3919165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PLACE</a:t>
            </a:r>
            <a:endParaRPr lang="en-US" sz="12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454348"/>
            <a:ext cx="1901354" cy="124435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9702" y="1569988"/>
            <a:ext cx="154112" cy="1541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38845" y="1968178"/>
            <a:ext cx="1615901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Platform: Mobile app (primary channel), website</a:t>
            </a:r>
            <a:endParaRPr lang="en-US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13856" y="1454348"/>
            <a:ext cx="1901428" cy="1244352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87514" y="1569988"/>
            <a:ext cx="154112" cy="154112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656582" y="1968178"/>
            <a:ext cx="1615976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Coverage: Island-wide delivery, pickup points/collection centres</a:t>
            </a:r>
            <a:endParaRPr lang="en-US" sz="10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2815084"/>
            <a:ext cx="3919165" cy="852487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378608" y="2930723"/>
            <a:ext cx="154112" cy="154112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638845" y="3328913"/>
            <a:ext cx="363371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Logistics: DEX last-mile fleet, 3PL partners</a:t>
            </a:r>
            <a:endParaRPr lang="en-US" sz="1000" dirty="0"/>
          </a:p>
        </p:txBody>
      </p:sp>
      <p:sp>
        <p:nvSpPr>
          <p:cNvPr id="13" name="Text 5"/>
          <p:cNvSpPr/>
          <p:nvPr/>
        </p:nvSpPr>
        <p:spPr>
          <a:xfrm>
            <a:off x="4733479" y="1122685"/>
            <a:ext cx="3919165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PROMOTION</a:t>
            </a:r>
            <a:endParaRPr lang="en-US" sz="1250" dirty="0"/>
          </a:p>
        </p:txBody>
      </p:sp>
      <p:pic>
        <p:nvPicPr>
          <p:cNvPr id="1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33479" y="1454348"/>
            <a:ext cx="1901354" cy="1244352"/>
          </a:xfrm>
          <a:prstGeom prst="rect">
            <a:avLst/>
          </a:prstGeom>
        </p:spPr>
      </p:pic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607062" y="1569988"/>
            <a:ext cx="154112" cy="154112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4876205" y="1968178"/>
            <a:ext cx="1615901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Events: Mega sale events (11.11, 12.12)</a:t>
            </a:r>
            <a:endParaRPr lang="en-US" sz="1000" dirty="0"/>
          </a:p>
        </p:txBody>
      </p:sp>
      <p:pic>
        <p:nvPicPr>
          <p:cNvPr id="17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751216" y="1454348"/>
            <a:ext cx="1901428" cy="1244352"/>
          </a:xfrm>
          <a:prstGeom prst="rect">
            <a:avLst/>
          </a:prstGeom>
        </p:spPr>
      </p:pic>
      <p:pic>
        <p:nvPicPr>
          <p:cNvPr id="18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624874" y="1569988"/>
            <a:ext cx="154112" cy="154112"/>
          </a:xfrm>
          <a:prstGeom prst="rect">
            <a:avLst/>
          </a:prstGeom>
        </p:spPr>
      </p:pic>
      <p:sp>
        <p:nvSpPr>
          <p:cNvPr id="19" name="Text 7"/>
          <p:cNvSpPr/>
          <p:nvPr/>
        </p:nvSpPr>
        <p:spPr>
          <a:xfrm>
            <a:off x="6893942" y="1968178"/>
            <a:ext cx="1615976" cy="587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Engagement: In-app gamification (Daraz Games, coin collection)</a:t>
            </a:r>
            <a:endParaRPr lang="en-US" sz="1000" dirty="0"/>
          </a:p>
        </p:txBody>
      </p:sp>
      <p:pic>
        <p:nvPicPr>
          <p:cNvPr id="20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733479" y="2815084"/>
            <a:ext cx="1901354" cy="1440284"/>
          </a:xfrm>
          <a:prstGeom prst="rect">
            <a:avLst/>
          </a:prstGeom>
        </p:spPr>
      </p:pic>
      <p:pic>
        <p:nvPicPr>
          <p:cNvPr id="21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607062" y="2930723"/>
            <a:ext cx="154112" cy="154112"/>
          </a:xfrm>
          <a:prstGeom prst="rect">
            <a:avLst/>
          </a:prstGeom>
        </p:spPr>
      </p:pic>
      <p:sp>
        <p:nvSpPr>
          <p:cNvPr id="22" name="Text 8"/>
          <p:cNvSpPr/>
          <p:nvPr/>
        </p:nvSpPr>
        <p:spPr>
          <a:xfrm>
            <a:off x="4876205" y="3328913"/>
            <a:ext cx="1615901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Channels: Push notifications, Influencer &amp; social media marketing, TV/digital ads</a:t>
            </a:r>
            <a:endParaRPr lang="en-US" sz="1000" dirty="0"/>
          </a:p>
        </p:txBody>
      </p:sp>
      <p:pic>
        <p:nvPicPr>
          <p:cNvPr id="23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751216" y="2815084"/>
            <a:ext cx="1901428" cy="1440284"/>
          </a:xfrm>
          <a:prstGeom prst="rect">
            <a:avLst/>
          </a:prstGeom>
        </p:spPr>
      </p:pic>
      <p:pic>
        <p:nvPicPr>
          <p:cNvPr id="24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624874" y="2930723"/>
            <a:ext cx="154112" cy="154112"/>
          </a:xfrm>
          <a:prstGeom prst="rect">
            <a:avLst/>
          </a:prstGeom>
        </p:spPr>
      </p:pic>
      <p:sp>
        <p:nvSpPr>
          <p:cNvPr id="25" name="Text 9"/>
          <p:cNvSpPr/>
          <p:nvPr/>
        </p:nvSpPr>
        <p:spPr>
          <a:xfrm>
            <a:off x="6893942" y="3328913"/>
            <a:ext cx="1615976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Incentives: Seller-funded vouchers</a:t>
            </a:r>
            <a:endParaRPr lang="en-US" sz="1000" dirty="0"/>
          </a:p>
        </p:txBody>
      </p:sp>
      <p:sp>
        <p:nvSpPr>
          <p:cNvPr id="26" name="Text 10"/>
          <p:cNvSpPr/>
          <p:nvPr/>
        </p:nvSpPr>
        <p:spPr>
          <a:xfrm>
            <a:off x="496119" y="4517306"/>
            <a:ext cx="860896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</a:t>
            </a:r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 MARKET: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Urban + growing rural digital users, price-sensitive, mobile-first, 18–40 age band     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4218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Competitive Analysis: SWOT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268685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9287" y="1321817"/>
            <a:ext cx="212601" cy="2126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6816" y="1317352"/>
            <a:ext cx="35265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STRENGTHS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956816" y="1623864"/>
            <a:ext cx="3526557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Alibaba backing (capital + tech)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Largest marketplace scale in LK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Own logistics (DEX)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 trust mechanism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660553" y="1268685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13722" y="1321817"/>
            <a:ext cx="212601" cy="21260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21250" y="1317352"/>
            <a:ext cx="35266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WEAKNESSES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5121250" y="1623864"/>
            <a:ext cx="3526631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quality / counterfeit issues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 dependency → thin margins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Delivery delays outside main cities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 seller professionalism variance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96119" y="2963317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9287" y="3016448"/>
            <a:ext cx="212601" cy="21260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56816" y="3011984"/>
            <a:ext cx="35265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OPPORTUNITIES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956816" y="3318495"/>
            <a:ext cx="3526557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Rural e-commerce growth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payment adoption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Fintech/BNPL services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Grocery / q-commerce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660553" y="2963317"/>
            <a:ext cx="318939" cy="318939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13722" y="3016448"/>
            <a:ext cx="212601" cy="21260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121250" y="3011984"/>
            <a:ext cx="352663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THREATS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5121250" y="3318495"/>
            <a:ext cx="3526631" cy="128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Kapruka, ikman, MyDeal, social-commerce (FB/WhatsApp sellers)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 restrictions &amp; forex controls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Rising delivery &amp; fuel costs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trust erosion from bad sellers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427"/>
            <a:ext cx="8151763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Recommendations: Strategic Actions</a:t>
            </a:r>
            <a:endParaRPr lang="en-US" sz="2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012850"/>
            <a:ext cx="1953592" cy="3737223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7124" y="1126406"/>
            <a:ext cx="151507" cy="15150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6612" y="1517824"/>
            <a:ext cx="1672605" cy="789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STRENGTHEN SELLER VETTING &amp; COUNTERFEIT DETECTION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636612" y="2374329"/>
            <a:ext cx="1672605" cy="2235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What:</a:t>
            </a:r>
            <a:pPr algn="l" indent="0" marL="0">
              <a:lnSpc>
                <a:spcPct val="126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Implement AI-powered product verification, stricter seller onboarding, third-party quality audits</a:t>
            </a:r>
            <a:endParaRPr lang="en-US" sz="950" dirty="0"/>
          </a:p>
          <a:p>
            <a:pPr algn="l" indent="0" marL="0">
              <a:lnSpc>
                <a:spcPct val="126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Why:</a:t>
            </a:r>
            <a:pPr algn="l" indent="0" marL="0">
              <a:lnSpc>
                <a:spcPct val="126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Trust is the biggest barrier to repeat purchase in marketplace model</a:t>
            </a:r>
            <a:endParaRPr lang="en-US" sz="9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Risk: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Fewer sellers, reduced assortment, higher compliance cost</a:t>
            </a:r>
            <a:endParaRPr lang="en-US" sz="9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2151" y="1012850"/>
            <a:ext cx="1953592" cy="3737223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63156" y="1126406"/>
            <a:ext cx="151507" cy="151507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702644" y="1517824"/>
            <a:ext cx="1672605" cy="5918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EXPAND DIGITAL PAYMENT ADOPTION OVER COD</a:t>
            </a:r>
            <a:endParaRPr lang="en-US" sz="1200" dirty="0"/>
          </a:p>
        </p:txBody>
      </p:sp>
      <p:sp>
        <p:nvSpPr>
          <p:cNvPr id="10" name="Text 4"/>
          <p:cNvSpPr/>
          <p:nvPr/>
        </p:nvSpPr>
        <p:spPr>
          <a:xfrm>
            <a:off x="2702644" y="2177058"/>
            <a:ext cx="1672605" cy="2044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What:</a:t>
            </a:r>
            <a:pPr algn="l" indent="0" marL="0">
              <a:lnSpc>
                <a:spcPct val="126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Incentivize card/wallet payments, partner with fintech for BNPL, reduce COD fees</a:t>
            </a:r>
            <a:endParaRPr lang="en-US" sz="950" dirty="0"/>
          </a:p>
          <a:p>
            <a:pPr algn="l" indent="0" marL="0">
              <a:lnSpc>
                <a:spcPct val="126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Why:</a:t>
            </a:r>
            <a:pPr algn="l" indent="0" marL="0">
              <a:lnSpc>
                <a:spcPct val="126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COD increases return rates, cash handling cost, delivery failures</a:t>
            </a:r>
            <a:endParaRPr lang="en-US" sz="9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Risk: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Rural customers with low card penetration may drop off</a:t>
            </a:r>
            <a:endParaRPr lang="en-US" sz="9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28183" y="1012850"/>
            <a:ext cx="1953592" cy="3737223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29188" y="1126406"/>
            <a:ext cx="151507" cy="151507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4768676" y="1517824"/>
            <a:ext cx="1672605" cy="5918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INVEST IN REGIONAL MICRO-WAREHOUSES</a:t>
            </a:r>
            <a:endParaRPr lang="en-US" sz="1200" dirty="0"/>
          </a:p>
        </p:txBody>
      </p:sp>
      <p:sp>
        <p:nvSpPr>
          <p:cNvPr id="14" name="Text 6"/>
          <p:cNvSpPr/>
          <p:nvPr/>
        </p:nvSpPr>
        <p:spPr>
          <a:xfrm>
            <a:off x="4768676" y="2177058"/>
            <a:ext cx="1672605" cy="1662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What:</a:t>
            </a:r>
            <a:pPr algn="l" indent="0" marL="0">
              <a:lnSpc>
                <a:spcPct val="126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Build distribution hubs in secondary cities (Kandy, Galle, Jaffna)</a:t>
            </a:r>
            <a:endParaRPr lang="en-US" sz="950" dirty="0"/>
          </a:p>
          <a:p>
            <a:pPr algn="l" indent="0" marL="0">
              <a:lnSpc>
                <a:spcPct val="126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Why:</a:t>
            </a:r>
            <a:pPr algn="l" indent="0" marL="0">
              <a:lnSpc>
                <a:spcPct val="126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Reduces last-mile delivery time outside Colombo, improves SLA</a:t>
            </a:r>
            <a:endParaRPr lang="en-US" sz="9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Risk: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High fixed cost in low-volume districts</a:t>
            </a:r>
            <a:endParaRPr lang="en-US" sz="95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94215" y="1012850"/>
            <a:ext cx="1953667" cy="3737223"/>
          </a:xfrm>
          <a:prstGeom prst="rect">
            <a:avLst/>
          </a:prstGeom>
        </p:spPr>
      </p:pic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595295" y="1126406"/>
            <a:ext cx="151507" cy="151507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6834708" y="1517824"/>
            <a:ext cx="1672679" cy="789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SHIFT FROM DISCOUNT-LED TO LOYALTY-LED MARKETING</a:t>
            </a:r>
            <a:endParaRPr lang="en-US" sz="1200" dirty="0"/>
          </a:p>
        </p:txBody>
      </p:sp>
      <p:sp>
        <p:nvSpPr>
          <p:cNvPr id="18" name="Text 8"/>
          <p:cNvSpPr/>
          <p:nvPr/>
        </p:nvSpPr>
        <p:spPr>
          <a:xfrm>
            <a:off x="6834708" y="2374329"/>
            <a:ext cx="1672679" cy="18533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What:</a:t>
            </a:r>
            <a:pPr algn="l" indent="0" marL="0">
              <a:lnSpc>
                <a:spcPct val="126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Launch tiered loyalty program, reduce flash-sale frequency, build brand equity</a:t>
            </a:r>
            <a:endParaRPr lang="en-US" sz="950" dirty="0"/>
          </a:p>
          <a:p>
            <a:pPr algn="l" indent="0" marL="0">
              <a:lnSpc>
                <a:spcPct val="126000"/>
              </a:lnSpc>
              <a:spcAft>
                <a:spcPts val="500"/>
              </a:spcAft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Why:</a:t>
            </a:r>
            <a:pPr algn="l" indent="0" marL="0">
              <a:lnSpc>
                <a:spcPct val="126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Discount dependency destroys margins and trains price-switching behaviour</a:t>
            </a:r>
            <a:endParaRPr lang="en-US" sz="950" dirty="0"/>
          </a:p>
          <a:p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Risk: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Short-term GMV drop during transition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5677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383283"/>
            <a:ext cx="2622724" cy="15300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3127" y="1544092"/>
            <a:ext cx="22249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COMPETITIVE ADVANTAGE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33127" y="2072060"/>
            <a:ext cx="22249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Daraz's competitive advantage = scale + logistics + Alibaba technology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0601" y="1383283"/>
            <a:ext cx="2622724" cy="15300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97610" y="1544092"/>
            <a:ext cx="22249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MANAGEMENT CHALLENGE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497610" y="2072060"/>
            <a:ext cx="22249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Controlling quality in a marketplace model where sellers are independent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5083" y="1383283"/>
            <a:ext cx="2622724" cy="15300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62092" y="1544092"/>
            <a:ext cx="22249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MARKETING CHALLENGE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262092" y="2072060"/>
            <a:ext cx="22249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Moving from price-led to trust-led positioning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96119" y="3125912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VERDICT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496119" y="3692872"/>
            <a:ext cx="8151763" cy="793775"/>
          </a:xfrm>
          <a:prstGeom prst="roundRect">
            <a:avLst>
              <a:gd name="adj" fmla="val 7501"/>
            </a:avLst>
          </a:prstGeom>
          <a:solidFill>
            <a:srgbClr val="DADBF1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877" y="3893641"/>
            <a:ext cx="177180" cy="14175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56816" y="3870052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Daraz dominates Sri Lanka's e-commerce market through Alibaba's backing and own logistics, but must shift from discount-driven growth to trust-based loyalty to sustain margins and defend against emerging competitors.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8143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Q&amp;A / Thank You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678781"/>
            <a:ext cx="3902943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TEAM MEMBERS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496119" y="2086347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[Name 1] — [IT Number]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[Name 2] — [IT Number]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[Name 3] — [IT Number]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[Name 4] — [IT Number]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1678781"/>
            <a:ext cx="3902943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REFERENCES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4749701" y="2086347"/>
            <a:ext cx="3902943" cy="1559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Daraz.lk — Official website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Daraz Sri Lanka Wikipedia &amp; news articles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IT3120 Modern Enterprise Management — Lecture notes &amp; course materials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Alibaba Group investor reports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Sri Lanka e-commerce market research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96119" y="3907631"/>
            <a:ext cx="8151763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2026-07-23T09:46:02Z</dcterms:created>
  <dcterms:modified xsi:type="dcterms:W3CDTF">2026-07-23T09:46:02Z</dcterms:modified>
</cp:coreProperties>
</file>